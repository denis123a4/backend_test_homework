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5156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36576"/>
            <a:ext cx="1191737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«ОТКРЫТОЕ СЕРДЦЕ». ВОЛОНТЁРСТВО КАК ПРОФИЛАКТИКА ДЕВИАНТНОГО ПОВЕДЕНИЯ ОБУЧАЮЩИХСЯ.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13232"/>
            <a:ext cx="117344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4ECDC4"/>
                </a:solidFill>
              </a:rPr>
              <a:t>Педагог-психолог Вербицкая Н.А. Т. 8 905 556 72 80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" y="1115568"/>
            <a:ext cx="11917375" cy="850392"/>
          </a:xfrm>
          <a:prstGeom prst="rect">
            <a:avLst/>
          </a:prstGeom>
          <a:solidFill>
            <a:srgbClr val="13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" y="1115568"/>
            <a:ext cx="64008" cy="85039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1133856"/>
            <a:ext cx="11734495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8CCE0"/>
                </a:solidFill>
              </a:rPr>
              <a:t>Волонтёрство в школьной среде рассматривается как одна из самых мощных методик позитивной профилактики. В отличие от традиционных лекций, оно не запрещает негативное поведение, а вытесняет его, предлагая подростку конструктивную альтернативу и чувство собственной значимости.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2002536"/>
            <a:ext cx="11917375" cy="694944"/>
          </a:xfrm>
          <a:prstGeom prst="rect">
            <a:avLst/>
          </a:prstGeom>
          <a:solidFill>
            <a:srgbClr val="17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" y="2002536"/>
            <a:ext cx="64008" cy="694944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2020824"/>
            <a:ext cx="117344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F5C542"/>
                </a:solidFill>
              </a:rPr>
              <a:t>Основная цель : </a:t>
            </a:r>
            <a:r>
              <a:rPr sz="1050" b="0" i="0">
                <a:solidFill>
                  <a:srgbClr val="FFFFFF"/>
                </a:solidFill>
              </a:rPr>
              <a:t>Социализация и самореализация подростка через общественно полезную деятельность, которая формирует внутренний иммунитет к деструктивному поведению и зависимостям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" y="2752344"/>
            <a:ext cx="7726679" cy="4023360"/>
          </a:xfrm>
          <a:prstGeom prst="rect">
            <a:avLst/>
          </a:prstGeom>
          <a:solidFill>
            <a:srgbClr val="13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160" y="2752344"/>
            <a:ext cx="64008" cy="402336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" y="2843784"/>
            <a:ext cx="75438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ECDC4"/>
                </a:solidFill>
              </a:rPr>
              <a:t>Задачи волонтерства как профилактики:</a:t>
            </a:r>
          </a:p>
          <a:p>
            <a:pPr algn="l">
              <a:spcBef>
                <a:spcPts val="500"/>
              </a:spcBef>
            </a:pPr>
            <a:r>
              <a:rPr sz="1000" b="1" i="0">
                <a:solidFill>
                  <a:srgbClr val="F5C542"/>
                </a:solidFill>
              </a:rPr>
              <a:t>1.   Социально-педагогические задачи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❖  Формирование ответственности: Когда подростку доверяют заботу о ком-то (детях, животных, экологии), он переходит из позиции «потребителя» в позицию «созидателя».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❖  Развитие эмпатии: Помощь другим помогает лучше понимать чувства людей, что является естественной профилактикой буллинга и агрессии.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❖  Приобретение новых навыков : Умение работать в команде, планировать время и вести переговоры повышает уверенность в себе.</a:t>
            </a:r>
          </a:p>
          <a:p>
            <a:pPr algn="l">
              <a:spcBef>
                <a:spcPts val="500"/>
              </a:spcBef>
            </a:pPr>
            <a:r>
              <a:rPr sz="1000" b="1" i="0">
                <a:solidFill>
                  <a:srgbClr val="F5C542"/>
                </a:solidFill>
              </a:rPr>
              <a:t>2. Психологические задачи.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❖  Смена социального статуса: Для детей из «группы риска» волонтерство — это шанс избавиться от ярлыка «трудного ребенка» и получить признание в позитивном ключе.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❖  Снижение уровня тревожности и агрессии: Физическая и эмоциональная активность в волонтерских проектах помогает экологично «сбрасывать» накопленное напряжение.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❖  Поиск смысла и принадлежности: Волонтерская группа дает подростку чувство общности («я — часть важного дела»), что снижает риск попадания в опасные субкультуры.</a:t>
            </a:r>
          </a:p>
          <a:p>
            <a:pPr algn="l">
              <a:spcBef>
                <a:spcPts val="500"/>
              </a:spcBef>
            </a:pPr>
            <a:r>
              <a:rPr sz="1000" b="1" i="0">
                <a:solidFill>
                  <a:srgbClr val="F5C542"/>
                </a:solidFill>
              </a:rPr>
              <a:t>3. Просветительские задачи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❖  Обучение по принципу «Равный — равному»: Волонтеры-сверстники транслируют ценности здорового образа жизни эффективнее, чем взрослые.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FFFFFF"/>
                </a:solidFill>
              </a:rPr>
              <a:t>❖  Правовое воспитание: Участие в социально значимых проектах формирует уважение к закону и нормам общества.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82712" y="2752344"/>
            <a:ext cx="4117543" cy="914400"/>
          </a:xfrm>
          <a:prstGeom prst="rect">
            <a:avLst/>
          </a:prstGeom>
          <a:solidFill>
            <a:srgbClr val="0A4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843784"/>
            <a:ext cx="3934663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Волонтерские направления: экологическое, социальное, событийное.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82712" y="3712463"/>
            <a:ext cx="4117543" cy="3017520"/>
          </a:xfrm>
          <a:prstGeom prst="rect">
            <a:avLst/>
          </a:prstGeom>
          <a:solidFill>
            <a:srgbClr val="0D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3776472"/>
            <a:ext cx="1287170" cy="1412748"/>
          </a:xfrm>
          <a:prstGeom prst="rect">
            <a:avLst/>
          </a:prstGeom>
          <a:solidFill>
            <a:srgbClr val="2D6A4F"/>
          </a:solidFill>
          <a:ln w="6350">
            <a:solidFill>
              <a:srgbClr val="B8C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97898" y="3776472"/>
            <a:ext cx="1287170" cy="1412748"/>
          </a:xfrm>
          <a:prstGeom prst="rect">
            <a:avLst/>
          </a:prstGeom>
          <a:solidFill>
            <a:srgbClr val="1D4E89"/>
          </a:solidFill>
          <a:ln w="6350">
            <a:solidFill>
              <a:srgbClr val="B8C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749076" y="3776472"/>
            <a:ext cx="1287170" cy="1412748"/>
          </a:xfrm>
          <a:prstGeom prst="rect">
            <a:avLst/>
          </a:prstGeom>
          <a:solidFill>
            <a:srgbClr val="6D350E"/>
          </a:solidFill>
          <a:ln w="6350">
            <a:solidFill>
              <a:srgbClr val="B8C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5253228"/>
            <a:ext cx="1287170" cy="1412748"/>
          </a:xfrm>
          <a:prstGeom prst="rect">
            <a:avLst/>
          </a:prstGeom>
          <a:solidFill>
            <a:srgbClr val="1A535C"/>
          </a:solidFill>
          <a:ln w="6350">
            <a:solidFill>
              <a:srgbClr val="B8C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97898" y="5253228"/>
            <a:ext cx="1287170" cy="1412748"/>
          </a:xfrm>
          <a:prstGeom prst="rect">
            <a:avLst/>
          </a:prstGeom>
          <a:solidFill>
            <a:srgbClr val="502B5C"/>
          </a:solidFill>
          <a:ln w="6350">
            <a:solidFill>
              <a:srgbClr val="B8C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749076" y="5253228"/>
            <a:ext cx="1287170" cy="1412748"/>
          </a:xfrm>
          <a:prstGeom prst="rect">
            <a:avLst/>
          </a:prstGeom>
          <a:solidFill>
            <a:srgbClr val="2C3E50"/>
          </a:solidFill>
          <a:ln w="6350">
            <a:solidFill>
              <a:srgbClr val="B8C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